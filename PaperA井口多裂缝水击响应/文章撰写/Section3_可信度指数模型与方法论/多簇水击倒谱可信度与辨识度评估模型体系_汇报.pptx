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645920"/>
            <a:ext cx="164592" cy="3474720"/>
          </a:xfrm>
          <a:prstGeom prst="rect">
            <a:avLst/>
          </a:prstGeom>
          <a:solidFill>
            <a:srgbClr val="117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645920"/>
            <a:ext cx="960120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6A085"/>
                </a:solidFill>
                <a:latin typeface="Arial"/>
              </a:rPr>
              <a:t>SECTION 3 METHODOLOGY &amp; WAVEFORM RECONSTRUCTION</a:t>
            </a:r>
          </a:p>
          <a:p>
            <a:pPr>
              <a:spcBef>
                <a:spcPts val="1400"/>
              </a:spcBef>
            </a:pPr>
            <a:r>
              <a:rPr sz="3000" b="1">
                <a:solidFill>
                  <a:srgbClr val="FFFFFF"/>
                </a:solidFill>
                <a:latin typeface="Microsoft YaHei"/>
              </a:rPr>
              <a:t>物理驱动的多簇水击倒谱
去混叠与裂缝剖面重构方法</a:t>
            </a:r>
          </a:p>
          <a:p>
            <a:pPr>
              <a:spcBef>
                <a:spcPts val="1600"/>
              </a:spcBef>
            </a:pPr>
            <a:r>
              <a:rPr sz="1500" i="1">
                <a:solidFill>
                  <a:srgbClr val="BDC3C7"/>
                </a:solidFill>
                <a:latin typeface="Times New Roman"/>
              </a:rPr>
              <a:t>Physics-Informed Cepstral De-aliasing and True Fracture Profile Reconstruction</a:t>
            </a:r>
          </a:p>
          <a:p>
            <a:pPr>
              <a:spcBef>
                <a:spcPts val="2800"/>
              </a:spcBef>
            </a:pPr>
            <a:r>
              <a:rPr sz="1100">
                <a:solidFill>
                  <a:srgbClr val="95A5A6"/>
                </a:solidFill>
                <a:latin typeface="Microsoft YaHei"/>
              </a:rPr>
              <a:t>汇报主题：多簇水击倒谱去混叠与波形重构方法  |  SPE Journal 论文方法论专题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424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117864"/>
                </a:solidFill>
                <a:latin typeface="Arial"/>
              </a:rPr>
              <a:t>RESEARCH MOTIVATION &amp; PHYSICAL DISTORTIONS  |  </a:t>
            </a:r>
            <a:r>
              <a:rPr sz="1900" b="1">
                <a:solidFill>
                  <a:srgbClr val="0E2F44"/>
                </a:solidFill>
                <a:latin typeface="Microsoft YaHei"/>
              </a:rPr>
              <a:t>核心挑战：多簇水击倒谱面临的‘三大物理失真’</a:t>
            </a:r>
          </a:p>
        </p:txBody>
      </p:sp>
      <p:pic>
        <p:nvPicPr>
          <p:cNvPr id="4" name="Picture 3" descr="Figure_Physical_Distortions_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5257800" cy="497666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263640" y="1325880"/>
            <a:ext cx="5148072" cy="1554480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435607"/>
            <a:ext cx="4800600" cy="1335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D35400"/>
                </a:solidFill>
                <a:latin typeface="Arial"/>
              </a:rPr>
              <a:t>01  </a:t>
            </a:r>
            <a:r>
              <a:rPr sz="1150" b="1">
                <a:solidFill>
                  <a:srgbClr val="0E2F44"/>
                </a:solidFill>
                <a:latin typeface="Microsoft YaHei"/>
              </a:rPr>
              <a:t>反相相消干涉 (Phase Cancellation Trap)</a:t>
            </a:r>
          </a:p>
          <a:p>
            <a:pPr>
              <a:spcBef>
                <a:spcPts val="200"/>
              </a:spcBef>
            </a:pPr>
            <a:r>
              <a:rPr sz="950" b="1">
                <a:solidFill>
                  <a:srgbClr val="D35400"/>
                </a:solidFill>
                <a:latin typeface="Microsoft YaHei"/>
              </a:rPr>
              <a:t>【核心危害】： 深层真裂缝‘假消失’</a:t>
            </a:r>
          </a:p>
          <a:p>
            <a:pPr>
              <a:spcBef>
                <a:spcPts val="200"/>
              </a:spcBef>
            </a:pPr>
            <a:r>
              <a:rPr sz="919">
                <a:solidFill>
                  <a:srgbClr val="2C3E50"/>
                </a:solidFill>
                <a:latin typeface="Microsoft YaHei"/>
              </a:rPr>
              <a:t>当簇间距 S 处于半波长奇数倍时，反射波与前序透射波反向叠加，深部 f3, f4 幅值严重萎缩 (&lt;0.5 a.u.)，导致【漏诊误判】。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3035808"/>
            <a:ext cx="5148072" cy="155448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3145536"/>
            <a:ext cx="4800600" cy="1335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900C3F"/>
                </a:solidFill>
                <a:latin typeface="Arial"/>
              </a:rPr>
              <a:t>02  </a:t>
            </a:r>
            <a:r>
              <a:rPr sz="1150" b="1">
                <a:solidFill>
                  <a:srgbClr val="0E2F44"/>
                </a:solidFill>
                <a:latin typeface="Microsoft YaHei"/>
              </a:rPr>
              <a:t>多径反射谐波 (Multi-Path Ghost Echoes)</a:t>
            </a:r>
          </a:p>
          <a:p>
            <a:pPr>
              <a:spcBef>
                <a:spcPts val="200"/>
              </a:spcBef>
            </a:pPr>
            <a:r>
              <a:rPr sz="950" b="1">
                <a:solidFill>
                  <a:srgbClr val="900C3F"/>
                </a:solidFill>
                <a:latin typeface="Microsoft YaHei"/>
              </a:rPr>
              <a:t>【核心危害】： 无缝深部冒出‘假裂缝’</a:t>
            </a:r>
          </a:p>
          <a:p>
            <a:pPr>
              <a:spcBef>
                <a:spcPts val="200"/>
              </a:spcBef>
            </a:pPr>
            <a:r>
              <a:rPr sz="919">
                <a:solidFill>
                  <a:srgbClr val="2C3E50"/>
                </a:solidFill>
                <a:latin typeface="Microsoft YaHei"/>
              </a:rPr>
              <a:t>声波在多道裂缝界面间来回往返反弹，在 x1 + m·S (m ≥ 2) 处冒出多次波谐波尖峰，诱发【假多缝/压窜虚警】。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4745736"/>
            <a:ext cx="5148072" cy="155448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4855464"/>
            <a:ext cx="4800600" cy="1335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B4F72"/>
                </a:solidFill>
                <a:latin typeface="Arial"/>
              </a:rPr>
              <a:t>03  </a:t>
            </a:r>
            <a:r>
              <a:rPr sz="1150" b="1">
                <a:solidFill>
                  <a:srgbClr val="0E2F44"/>
                </a:solidFill>
                <a:latin typeface="Microsoft YaHei"/>
              </a:rPr>
              <a:t>多界面级联耗竭 (Cascaded Depletion)</a:t>
            </a:r>
          </a:p>
          <a:p>
            <a:pPr>
              <a:spcBef>
                <a:spcPts val="200"/>
              </a:spcBef>
            </a:pPr>
            <a:r>
              <a:rPr sz="950" b="1">
                <a:solidFill>
                  <a:srgbClr val="1B4F72"/>
                </a:solidFill>
                <a:latin typeface="Microsoft YaHei"/>
              </a:rPr>
              <a:t>【核心危害】： 深部能量耗竭与毛刺放大</a:t>
            </a:r>
          </a:p>
          <a:p>
            <a:pPr>
              <a:spcBef>
                <a:spcPts val="200"/>
              </a:spcBef>
            </a:pPr>
            <a:r>
              <a:rPr sz="919">
                <a:solidFill>
                  <a:srgbClr val="2C3E50"/>
                </a:solidFill>
                <a:latin typeface="Microsoft YaHei"/>
              </a:rPr>
              <a:t>穿透多道裂缝后能量按 T_eff^{2(k-1)} 几何级数衰竭超 96%，传统暴力放大又会同步放大伴生毛刺杂波，形成【探测盲区】。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424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117864"/>
                </a:solidFill>
                <a:latin typeface="Arial"/>
              </a:rPr>
              <a:t>PHYSICS-INFORMED DE-ALIASING &amp; RECONSTRUCTION OPERATORS  |  </a:t>
            </a:r>
            <a:r>
              <a:rPr sz="1900" b="1">
                <a:solidFill>
                  <a:srgbClr val="0E2F44"/>
                </a:solidFill>
                <a:latin typeface="Microsoft YaHei"/>
              </a:rPr>
              <a:t>逆向重构原理：四大物理算子协同架构与数学机制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80160"/>
            <a:ext cx="10634472" cy="1051560"/>
          </a:xfrm>
          <a:prstGeom prst="roundRect">
            <a:avLst/>
          </a:prstGeom>
          <a:solidFill>
            <a:srgbClr val="EAFAF3"/>
          </a:solidFill>
          <a:ln w="12700">
            <a:solidFill>
              <a:srgbClr val="117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353312"/>
            <a:ext cx="54864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117864"/>
                </a:solidFill>
                <a:latin typeface="Microsoft YaHei"/>
              </a:rPr>
              <a:t>📐 物理级联重构总方程 (Master Waveform Equation):</a:t>
            </a:r>
          </a:p>
        </p:txBody>
      </p:sp>
      <p:pic>
        <p:nvPicPr>
          <p:cNvPr id="6" name="Picture 5" descr="formula_master_reconstru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64208"/>
            <a:ext cx="5120640" cy="42179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1353312"/>
            <a:ext cx="48463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0E2F44"/>
                </a:solidFill>
                <a:latin typeface="Microsoft YaHei"/>
              </a:rPr>
              <a:t>🎯 总体目的与物理使命：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2C3E50"/>
                </a:solidFill>
                <a:latin typeface="Microsoft YaHei"/>
              </a:rPr>
              <a:t>将原始畸变倒谱 P_2D(x) 通过正演波动规律逆向变换为幅值等高(3.12 a.u.)、假峰归零的高保真物理真实剖面 P~_2D(x)。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468880"/>
            <a:ext cx="5166360" cy="192024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42032"/>
            <a:ext cx="48920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900C3F"/>
                </a:solidFill>
                <a:latin typeface="Microsoft YaHei"/>
              </a:rPr>
              <a:t>算子一: 多次波谐波剥离算子 G_peel(x)</a:t>
            </a:r>
          </a:p>
          <a:p>
            <a:pPr>
              <a:spcBef>
                <a:spcPts val="100"/>
              </a:spcBef>
            </a:pPr>
            <a:r>
              <a:rPr sz="919" b="1">
                <a:solidFill>
                  <a:srgbClr val="0E2F44"/>
                </a:solidFill>
                <a:latin typeface="Microsoft YaHei"/>
              </a:rPr>
              <a:t>🎯 【算子目的】： 精准切除多次反射虚假谐波，杜绝压窜/假裂缝虚警</a:t>
            </a:r>
          </a:p>
        </p:txBody>
      </p:sp>
      <p:pic>
        <p:nvPicPr>
          <p:cNvPr id="10" name="Picture 9" descr="formula_ghost_peel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063240"/>
            <a:ext cx="4206240" cy="67600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3703320"/>
            <a:ext cx="4892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80">
                <a:solidFill>
                  <a:srgbClr val="2C3E50"/>
                </a:solidFill>
                <a:latin typeface="Microsoft YaHei"/>
              </a:rPr>
              <a:t>在理论多径时延 x1+mS (m≥2) 构造 α_m=0.92 陷波滤波器，将假峰压入底噪，真缝区保持 1.0 无损。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2468880"/>
            <a:ext cx="5166360" cy="192024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2542032"/>
            <a:ext cx="48920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1B4F72"/>
                </a:solidFill>
                <a:latin typeface="Microsoft YaHei"/>
              </a:rPr>
              <a:t>算子二: 级联透射与相消增益均衡算子 K_comp(x)</a:t>
            </a:r>
          </a:p>
          <a:p>
            <a:pPr>
              <a:spcBef>
                <a:spcPts val="100"/>
              </a:spcBef>
            </a:pPr>
            <a:r>
              <a:rPr sz="919" b="1">
                <a:solidFill>
                  <a:srgbClr val="0E2F44"/>
                </a:solidFill>
                <a:latin typeface="Microsoft YaHei"/>
              </a:rPr>
              <a:t>🎯 【算子目的】： 补偿透射衰减与相消干涉谷，等高打捞深部真裂缝</a:t>
            </a:r>
          </a:p>
        </p:txBody>
      </p:sp>
      <p:pic>
        <p:nvPicPr>
          <p:cNvPr id="14" name="Picture 13" descr="formula_gain_equaliz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512" y="3063240"/>
            <a:ext cx="4389120" cy="51366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82512" y="3703320"/>
            <a:ext cx="4892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80">
                <a:solidFill>
                  <a:srgbClr val="2C3E50"/>
                </a:solidFill>
                <a:latin typeface="Microsoft YaHei"/>
              </a:rPr>
              <a:t>依据 T_eff^{2(k-1)} 与 1/η_phase(S) 提供高达 15x 阶梯放大增益，将所有真裂缝幅值等高拉齐至 3.12 a.u.。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526280"/>
            <a:ext cx="5166360" cy="1920240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599432"/>
            <a:ext cx="48920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117864"/>
                </a:solidFill>
                <a:latin typeface="Microsoft YaHei"/>
              </a:rPr>
              <a:t>算子三: 单簇物理聚焦剥离算子 F_focus(x)</a:t>
            </a:r>
          </a:p>
          <a:p>
            <a:pPr>
              <a:spcBef>
                <a:spcPts val="100"/>
              </a:spcBef>
            </a:pPr>
            <a:r>
              <a:rPr sz="919" b="1">
                <a:solidFill>
                  <a:srgbClr val="0E2F44"/>
                </a:solidFill>
                <a:latin typeface="Microsoft YaHei"/>
              </a:rPr>
              <a:t>🎯 【算子目的】： 聚焦单晶孔眼主峰，彻底切除深部放大伴生毛刺副瓣</a:t>
            </a:r>
          </a:p>
        </p:txBody>
      </p:sp>
      <p:pic>
        <p:nvPicPr>
          <p:cNvPr id="18" name="Picture 17" descr="formula_peak_focus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5120640"/>
            <a:ext cx="4389120" cy="42375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14400" y="5760720"/>
            <a:ext cx="4892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80">
                <a:solidFill>
                  <a:srgbClr val="2C3E50"/>
                </a:solidFill>
                <a:latin typeface="Microsoft YaHei"/>
              </a:rPr>
              <a:t>利用单簇孔眼物理跨度 (w_core=0.8m) 超高斯核锁定声学主晶，剥离放大过程中产生的多次波伴生毛刺。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5352" y="4526280"/>
            <a:ext cx="5166360" cy="1920240"/>
          </a:xfrm>
          <a:prstGeom prst="roundRect">
            <a:avLst/>
          </a:prstGeom>
          <a:solidFill>
            <a:srgbClr val="EAFAF3"/>
          </a:solidFill>
          <a:ln w="12700"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4599432"/>
            <a:ext cx="48920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16A085"/>
                </a:solidFill>
                <a:latin typeface="Microsoft YaHei"/>
              </a:rPr>
              <a:t>配套成果: 空间真伪置信度掩模 M(x)</a:t>
            </a:r>
          </a:p>
          <a:p>
            <a:pPr>
              <a:spcBef>
                <a:spcPts val="100"/>
              </a:spcBef>
            </a:pPr>
            <a:r>
              <a:rPr sz="919" b="1">
                <a:solidFill>
                  <a:srgbClr val="0E2F44"/>
                </a:solidFill>
                <a:latin typeface="Microsoft YaHei"/>
              </a:rPr>
              <a:t>🎯 【算子目的】： 输出确定性三色决策带，消除人工经验判图主观性</a:t>
            </a:r>
          </a:p>
        </p:txBody>
      </p:sp>
      <p:pic>
        <p:nvPicPr>
          <p:cNvPr id="22" name="Picture 21" descr="formula_confidence_mas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2512" y="5120640"/>
            <a:ext cx="4206240" cy="51484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382512" y="5760720"/>
            <a:ext cx="4892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80">
                <a:solidFill>
                  <a:srgbClr val="2C3E50"/>
                </a:solidFill>
                <a:latin typeface="Microsoft YaHei"/>
              </a:rPr>
              <a:t>输出连续三色带（绿色 ≥ 0.70 真实裂缝 / 黄色 0.20~0.70 混叠警示 / 红色 &lt; 0.20 压制假信号）。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424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117864"/>
                </a:solidFill>
                <a:latin typeface="Arial"/>
              </a:rPr>
              <a:t>METHODOLOGICAL ADVANTAGES &amp; PHYSICAL CORRESPONDENCE  |  </a:t>
            </a:r>
            <a:r>
              <a:rPr sz="1900" b="1">
                <a:solidFill>
                  <a:srgbClr val="0E2F44"/>
                </a:solidFill>
                <a:latin typeface="Microsoft YaHei"/>
              </a:rPr>
              <a:t>方法优势对比：物理逆向重构 vs. 传统辨识度打分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325880"/>
            <a:ext cx="5166360" cy="3931920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08760"/>
            <a:ext cx="480060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1">
                <a:solidFill>
                  <a:srgbClr val="900C3F"/>
                </a:solidFill>
                <a:latin typeface="Microsoft YaHei"/>
              </a:rPr>
              <a:t>❌ 传统辨识度指标 Ψ(x) 的局限</a:t>
            </a:r>
          </a:p>
          <a:p>
            <a:pPr>
              <a:spcBef>
                <a:spcPts val="1400"/>
              </a:spcBef>
            </a:pPr>
            <a:r>
              <a:rPr sz="1100">
                <a:solidFill>
                  <a:srgbClr val="2C3E50"/>
                </a:solidFill>
                <a:latin typeface="Microsoft YaHei"/>
              </a:rPr>
              <a:t>• 脱离波传播动力学：本质为静态加权打分（0~1 标量），打分公式与水击波在多界面间的多径反射、透射衰减和相消干涉缺乏双向解析对应；</a:t>
            </a:r>
          </a:p>
          <a:p>
            <a:pPr>
              <a:spcBef>
                <a:spcPts val="1400"/>
              </a:spcBef>
            </a:pPr>
            <a:r>
              <a:rPr sz="1100">
                <a:solidFill>
                  <a:srgbClr val="2C3E50"/>
                </a:solidFill>
                <a:latin typeface="Microsoft YaHei"/>
              </a:rPr>
              <a:t>• 依赖人工脑补判图：仅给出置信度分数，工程师面对相消萎缩的 f3, f4 和 3120m 假峰时，依然要在畸变倒谱图上主观猜图；</a:t>
            </a:r>
          </a:p>
          <a:p>
            <a:pPr>
              <a:spcBef>
                <a:spcPts val="1400"/>
              </a:spcBef>
            </a:pPr>
            <a:r>
              <a:rPr sz="1100">
                <a:solidFill>
                  <a:srgbClr val="2C3E50"/>
                </a:solidFill>
                <a:latin typeface="Microsoft YaHei"/>
              </a:rPr>
              <a:t>• 无法对接定量反演：由于未纠正波传播几何衰减与干涉失真，无法直接利用幅值反演各簇进液阻抗和水力开度。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5352" y="1325880"/>
            <a:ext cx="5166360" cy="3931920"/>
          </a:xfrm>
          <a:prstGeom prst="roundRect">
            <a:avLst/>
          </a:prstGeom>
          <a:solidFill>
            <a:srgbClr val="EAFAF3"/>
          </a:solidFill>
          <a:ln w="12700">
            <a:solidFill>
              <a:srgbClr val="117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28232" y="1508760"/>
            <a:ext cx="480060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1">
                <a:solidFill>
                  <a:srgbClr val="117864"/>
                </a:solidFill>
                <a:latin typeface="Microsoft YaHei"/>
              </a:rPr>
              <a:t>✅ 物理驱动逆向重构方法 P~_2D(x) 的核心优势</a:t>
            </a:r>
          </a:p>
          <a:p>
            <a:pPr>
              <a:spcBef>
                <a:spcPts val="1400"/>
              </a:spcBef>
            </a:pPr>
            <a:r>
              <a:rPr sz="1100">
                <a:solidFill>
                  <a:srgbClr val="0E2F44"/>
                </a:solidFill>
                <a:latin typeface="Microsoft YaHei"/>
              </a:rPr>
              <a:t>• 与正演物理规律强对应（Direct Physical Correspondence）：算子参数严格由界面反射/透射解与相消干涉理论解析导出，与波动规律 100% 对应；</a:t>
            </a:r>
          </a:p>
          <a:p>
            <a:pPr>
              <a:spcBef>
                <a:spcPts val="1400"/>
              </a:spcBef>
            </a:pPr>
            <a:r>
              <a:rPr sz="1100">
                <a:solidFill>
                  <a:srgbClr val="0E2F44"/>
                </a:solidFill>
                <a:latin typeface="Microsoft YaHei"/>
              </a:rPr>
              <a:t>• 跃升为波形级物理重构（Waveform-Level Reconstruction）：直接在波形域操作，实现‘假峰物理抹平、真峰等高打捞、毛刺聚焦切除’，所见即所得；</a:t>
            </a:r>
          </a:p>
          <a:p>
            <a:pPr>
              <a:spcBef>
                <a:spcPts val="1400"/>
              </a:spcBef>
            </a:pPr>
            <a:r>
              <a:rPr sz="1100">
                <a:solidFill>
                  <a:srgbClr val="0E2F44"/>
                </a:solidFill>
                <a:latin typeface="Microsoft YaHei"/>
              </a:rPr>
              <a:t>• 为深部定量反演提供高保真输入：消除了波传播几何失真，各真裂缝等高幅值可直接无缝对接【各簇进液阻抗与水力开度定量反演】！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394960"/>
            <a:ext cx="10634472" cy="96012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1B4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5468112"/>
            <a:ext cx="102412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1B4F72"/>
                </a:solidFill>
                <a:latin typeface="Microsoft YaHei"/>
              </a:rPr>
              <a:t>💡 学术与工程本质飞跃： </a:t>
            </a:r>
            <a:r>
              <a:rPr sz="1050" b="1">
                <a:solidFill>
                  <a:srgbClr val="0E2F44"/>
                </a:solidFill>
                <a:latin typeface="Microsoft YaHei"/>
              </a:rPr>
              <a:t>从【后验经验评分】跨越到【物理波形逆向重构】—— 不仅判别‘信不信’，更直接把‘对的波形还原出来’！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424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117864"/>
                </a:solidFill>
                <a:latin typeface="Arial"/>
              </a:rPr>
              <a:t>WORKFLOW VERIFICATION (FIGURE 3.3)  |  </a:t>
            </a:r>
            <a:r>
              <a:rPr sz="1900" b="1">
                <a:solidFill>
                  <a:srgbClr val="0E2F44"/>
                </a:solidFill>
                <a:latin typeface="Microsoft YaHei"/>
              </a:rPr>
              <a:t>实测验证：典型相消与谐波工况下的去混叠重构流程</a:t>
            </a:r>
          </a:p>
        </p:txBody>
      </p:sp>
      <p:pic>
        <p:nvPicPr>
          <p:cNvPr id="4" name="Picture 3" descr="Figure_3_3_Physics_Informed_Dealiasing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5486400" cy="54864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537960" y="1325880"/>
            <a:ext cx="4873752" cy="5029200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20840" y="1508760"/>
            <a:ext cx="4526280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D35400"/>
                </a:solidFill>
                <a:latin typeface="Microsoft YaHei"/>
              </a:rPr>
              <a:t>Track (a) 原始实测倒谱剖面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2C3E50"/>
                </a:solidFill>
                <a:latin typeface="Microsoft YaHei"/>
              </a:rPr>
              <a:t>前序 f1, f2 信号正常，但深部 f3, f4 受反相相消压制几乎消失；在 3120m 与 3150m 处冒出明显的多次反射假谐波峰。</a:t>
            </a:r>
          </a:p>
          <a:p>
            <a:pPr>
              <a:spcBef>
                <a:spcPts val="1200"/>
              </a:spcBef>
            </a:pPr>
            <a:r>
              <a:rPr sz="1200" b="1">
                <a:solidFill>
                  <a:srgbClr val="1B4F72"/>
                </a:solidFill>
                <a:latin typeface="Microsoft YaHei"/>
              </a:rPr>
              <a:t>Track (b) 正演物理逆算子输出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2C3E50"/>
                </a:solidFill>
                <a:latin typeface="Microsoft YaHei"/>
              </a:rPr>
              <a:t>红色虚线 G_peel 在 3120m, 3150m 精准凹陷；蓝色实线 K_comp 在 f3, f4 处提供自适应 3~4 倍能量恢复增益。</a:t>
            </a:r>
          </a:p>
          <a:p>
            <a:pPr>
              <a:spcBef>
                <a:spcPts val="1200"/>
              </a:spcBef>
            </a:pPr>
            <a:r>
              <a:rPr sz="1200" b="1">
                <a:solidFill>
                  <a:srgbClr val="117864"/>
                </a:solidFill>
                <a:latin typeface="Microsoft YaHei"/>
              </a:rPr>
              <a:t>Track (c) 修正后真实裂缝剖面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2C3E50"/>
                </a:solidFill>
                <a:latin typeface="Microsoft YaHei"/>
              </a:rPr>
              <a:t>f1 ~ f4 全部被等高打捞复原至 3.12 a.u.，单簇物理聚焦算子彻底切除伴生毛刺，深部虚假谐波峰被完全抹平（Ghost Wiped Out）。</a:t>
            </a:r>
          </a:p>
          <a:p>
            <a:pPr>
              <a:spcBef>
                <a:spcPts val="1200"/>
              </a:spcBef>
            </a:pPr>
            <a:r>
              <a:rPr sz="1200" b="1">
                <a:solidFill>
                  <a:srgbClr val="16A085"/>
                </a:solidFill>
                <a:latin typeface="Microsoft YaHei"/>
              </a:rPr>
              <a:t>Track (d) 空间真伪置信掩模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2C3E50"/>
                </a:solidFill>
                <a:latin typeface="Microsoft YaHei"/>
              </a:rPr>
              <a:t>给出 4 道 100% 真实裂缝绿色置信带，其余区域判定为假信号红带，为工程决策提供确定性判据。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424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117864"/>
                </a:solidFill>
                <a:latin typeface="Arial"/>
              </a:rPr>
              <a:t>MULTI-SCENARIO MATRIX (FIGURE 3.4)  |  </a:t>
            </a:r>
            <a:r>
              <a:rPr sz="1900" b="1">
                <a:solidFill>
                  <a:srgbClr val="0E2F44"/>
                </a:solidFill>
                <a:latin typeface="Microsoft YaHei"/>
              </a:rPr>
              <a:t>普适性验证：覆盖四大工程极限工况的全景测试矩阵</a:t>
            </a:r>
          </a:p>
        </p:txBody>
      </p:sp>
      <p:pic>
        <p:nvPicPr>
          <p:cNvPr id="4" name="Picture 3" descr="Figure_3_4_MultiCase_Physics_Correc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6217920" cy="4749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223760" y="1325880"/>
            <a:ext cx="4187952" cy="1143000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0920" y="1399032"/>
            <a:ext cx="3931920" cy="996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D35400"/>
                </a:solidFill>
                <a:latin typeface="Microsoft YaHei"/>
              </a:rPr>
              <a:t>Case 1: 相消与谐波段 (S=30m, n=4)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2C3E50"/>
                </a:solidFill>
                <a:latin typeface="Microsoft YaHei"/>
              </a:rPr>
              <a:t>• 修正前：f3, f4 严重凹陷；3120m 假峰突出
• 修正后：f3, f4 等高还原，假峰归零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2624328"/>
            <a:ext cx="4187952" cy="1143000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60920" y="2697480"/>
            <a:ext cx="3931920" cy="996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900C3F"/>
                </a:solidFill>
                <a:latin typeface="Microsoft YaHei"/>
              </a:rPr>
              <a:t>Case 2: 极密混叠极限段 (S=10m, n=4)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2C3E50"/>
                </a:solidFill>
                <a:latin typeface="Microsoft YaHei"/>
              </a:rPr>
              <a:t>• 修正前：波包时域粘连成宽带复合包
• 修正后：物理聚焦锐化分离出 4 个孤立峰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3922776"/>
            <a:ext cx="4187952" cy="1143000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60920" y="3995928"/>
            <a:ext cx="3931920" cy="996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1B4F72"/>
                </a:solidFill>
                <a:latin typeface="Microsoft YaHei"/>
              </a:rPr>
              <a:t>Case 3: 8簇深层耗竭段 (S=20m, n=8)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2C3E50"/>
                </a:solidFill>
                <a:latin typeface="Microsoft YaHei"/>
              </a:rPr>
              <a:t>• 修正前：f5~f8 能量衰竭 96.6% 没入噪声底
• 修正后：15x 动态增益实现 8 簇等高打捞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5221224"/>
            <a:ext cx="4187952" cy="1143000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0920" y="5294376"/>
            <a:ext cx="3931920" cy="996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117864"/>
                </a:solidFill>
                <a:latin typeface="Microsoft YaHei"/>
              </a:rPr>
              <a:t>Case 4: 优质基准走廊段 (S=80m, n=4)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2C3E50"/>
                </a:solidFill>
                <a:latin typeface="Microsoft YaHei"/>
              </a:rPr>
              <a:t>• 修正前：大间距无相消干扰，波形清晰
• 修正后：保持 100% 原始信号高保真度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424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117864"/>
                </a:solidFill>
                <a:latin typeface="Arial"/>
              </a:rPr>
              <a:t>QUANTITATIVE BENCHMARK &amp; FIELD IMPACT  |  </a:t>
            </a:r>
            <a:r>
              <a:rPr sz="1900" b="1">
                <a:solidFill>
                  <a:srgbClr val="0E2F44"/>
                </a:solidFill>
                <a:latin typeface="Microsoft YaHei"/>
              </a:rPr>
              <a:t>量化对比与工程价值：彻底消除现场误诊与漏诊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371600"/>
          <a:ext cx="10634472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834640"/>
                <a:gridCol w="2834640"/>
                <a:gridCol w="2953512"/>
              </a:tblGrid>
              <a:tr h="749807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典型工况场景</a:t>
                      </a:r>
                    </a:p>
                  </a:txBody>
                  <a:tcPr anchor="ctr">
                    <a:solidFill>
                      <a:srgbClr val="0E2F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原始倒谱 P_2D(x) (修正前)</a:t>
                      </a:r>
                    </a:p>
                  </a:txBody>
                  <a:tcPr anchor="ctr">
                    <a:solidFill>
                      <a:srgbClr val="0E2F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物理修正后 P~_2D(x) (修正后)</a:t>
                      </a:r>
                    </a:p>
                  </a:txBody>
                  <a:tcPr anchor="ctr">
                    <a:solidFill>
                      <a:srgbClr val="0E2F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现场决策收益 (避免工程失误)</a:t>
                      </a:r>
                    </a:p>
                  </a:txBody>
                  <a:tcPr anchor="ctr">
                    <a:solidFill>
                      <a:srgbClr val="0E2F44"/>
                    </a:solidFill>
                  </a:tcPr>
                </a:tc>
              </a:tr>
              <a:tr h="749807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E2F44"/>
                          </a:solidFill>
                          <a:latin typeface="Microsoft YaHei"/>
                        </a:rPr>
                        <a:t>Case 1: 相消与谐波</a:t>
                      </a:r>
                    </a:p>
                    <a:p>
                      <a:pPr algn="ctr"/>
                      <a:r>
                        <a:rPr sz="1000">
                          <a:solidFill>
                            <a:srgbClr val="0E2F44"/>
                          </a:solidFill>
                          <a:latin typeface="Microsoft YaHei"/>
                        </a:rPr>
                        <a:t>(S=30m, n=4)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icrosoft YaHei"/>
                        </a:rPr>
                        <a:t>f3, f4 严重凹陷 (&lt;0.5 a.u.)</a:t>
                      </a:r>
                    </a:p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icrosoft YaHei"/>
                        </a:rPr>
                        <a:t>3120m 冒出尖锐假峰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icrosoft YaHei"/>
                        </a:rPr>
                        <a:t>f3, f4 等高还原至 3.12 a.u.</a:t>
                      </a:r>
                    </a:p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icrosoft YaHei"/>
                        </a:rPr>
                        <a:t>多次波假峰彻底抹平 (-&gt;0)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icrosoft YaHei"/>
                        </a:rPr>
                        <a:t>避免漏诊深层真裂缝</a:t>
                      </a:r>
                    </a:p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icrosoft YaHei"/>
                        </a:rPr>
                        <a:t>杜绝压窜假象虚警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49807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E2F44"/>
                          </a:solidFill>
                          <a:latin typeface="Microsoft YaHei"/>
                        </a:rPr>
                        <a:t>Case 2: 极密混叠</a:t>
                      </a:r>
                    </a:p>
                    <a:p>
                      <a:pPr algn="ctr"/>
                      <a:r>
                        <a:rPr sz="1000">
                          <a:solidFill>
                            <a:srgbClr val="0E2F44"/>
                          </a:solidFill>
                          <a:latin typeface="Microsoft YaHei"/>
                        </a:rPr>
                        <a:t>(S=10m, n=4)</a:t>
                      </a:r>
                    </a:p>
                  </a:txBody>
                  <a:tcPr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icrosoft YaHei"/>
                        </a:rPr>
                        <a:t>4 簇融合成宽带复合包</a:t>
                      </a:r>
                    </a:p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icrosoft YaHei"/>
                        </a:rPr>
                        <a:t>单簇边界完全粘连混叠</a:t>
                      </a:r>
                    </a:p>
                  </a:txBody>
                  <a:tcPr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icrosoft YaHei"/>
                        </a:rPr>
                        <a:t>物理聚焦解聚分离出 4 独立峰</a:t>
                      </a:r>
                    </a:p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icrosoft YaHei"/>
                        </a:rPr>
                        <a:t>空间掩模标示时域极限</a:t>
                      </a:r>
                    </a:p>
                  </a:txBody>
                  <a:tcPr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icrosoft YaHei"/>
                        </a:rPr>
                        <a:t>精准判识开缝总簇数</a:t>
                      </a:r>
                    </a:p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icrosoft YaHei"/>
                        </a:rPr>
                        <a:t>防止少算有效射孔簇</a:t>
                      </a:r>
                    </a:p>
                  </a:txBody>
                  <a:tcPr anchor="ctr">
                    <a:solidFill>
                      <a:srgbClr val="FAFBFC"/>
                    </a:solidFill>
                  </a:tcPr>
                </a:tc>
              </a:tr>
              <a:tr h="749807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E2F44"/>
                          </a:solidFill>
                          <a:latin typeface="Microsoft YaHei"/>
                        </a:rPr>
                        <a:t>Case 3: 8簇深层耗竭</a:t>
                      </a:r>
                    </a:p>
                    <a:p>
                      <a:pPr algn="ctr"/>
                      <a:r>
                        <a:rPr sz="1000">
                          <a:solidFill>
                            <a:srgbClr val="0E2F44"/>
                          </a:solidFill>
                          <a:latin typeface="Microsoft YaHei"/>
                        </a:rPr>
                        <a:t>(S=20m, n=8)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icrosoft YaHei"/>
                        </a:rPr>
                        <a:t>7 道界面累积损耗 (T^14)</a:t>
                      </a:r>
                    </a:p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icrosoft YaHei"/>
                        </a:rPr>
                        <a:t>f5~f8 (&lt;0.2 a.u.) 沉入噪声底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icrosoft YaHei"/>
                        </a:rPr>
                        <a:t>大动态级联增益 (15x)</a:t>
                      </a:r>
                    </a:p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icrosoft YaHei"/>
                        </a:rPr>
                        <a:t>8 簇裂缝整齐划一全部等高复原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icrosoft YaHei"/>
                        </a:rPr>
                        <a:t>突破深层水击探测盲区</a:t>
                      </a:r>
                    </a:p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icrosoft YaHei"/>
                        </a:rPr>
                        <a:t>实现 8 簇超长跨度全景反演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49811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E2F44"/>
                          </a:solidFill>
                          <a:latin typeface="Microsoft YaHei"/>
                        </a:rPr>
                        <a:t>Case 4: 优质基准</a:t>
                      </a:r>
                    </a:p>
                    <a:p>
                      <a:pPr algn="ctr"/>
                      <a:r>
                        <a:rPr sz="1000">
                          <a:solidFill>
                            <a:srgbClr val="0E2F44"/>
                          </a:solidFill>
                          <a:latin typeface="Microsoft YaHei"/>
                        </a:rPr>
                        <a:t>(S=80m, n=4)</a:t>
                      </a:r>
                    </a:p>
                  </a:txBody>
                  <a:tcPr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icrosoft YaHei"/>
                        </a:rPr>
                        <a:t>4 簇波包孤立清晰</a:t>
                      </a:r>
                    </a:p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icrosoft YaHei"/>
                        </a:rPr>
                        <a:t>高透射走廊信噪比良好</a:t>
                      </a:r>
                    </a:p>
                  </a:txBody>
                  <a:tcPr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icrosoft YaHei"/>
                        </a:rPr>
                        <a:t>保持原始波形原貌</a:t>
                      </a:r>
                    </a:p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icrosoft YaHei"/>
                        </a:rPr>
                        <a:t>零人为失真，输出 100% 绿色置信</a:t>
                      </a:r>
                    </a:p>
                  </a:txBody>
                  <a:tcPr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icrosoft YaHei"/>
                        </a:rPr>
                        <a:t>算法自适应保真性验证</a:t>
                      </a:r>
                    </a:p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icrosoft YaHei"/>
                        </a:rPr>
                        <a:t>证明不会引入额外虚假畸变</a:t>
                      </a:r>
                    </a:p>
                  </a:txBody>
                  <a:tcPr anchor="ctr"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77240" y="5303520"/>
            <a:ext cx="10634472" cy="1051560"/>
          </a:xfrm>
          <a:prstGeom prst="roundRect">
            <a:avLst/>
          </a:prstGeom>
          <a:solidFill>
            <a:srgbClr val="EAFAF3"/>
          </a:solidFill>
          <a:ln w="12700">
            <a:solidFill>
              <a:srgbClr val="117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5394960"/>
            <a:ext cx="102412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117864"/>
                </a:solidFill>
                <a:latin typeface="Microsoft YaHei"/>
              </a:rPr>
              <a:t>🎯 核心工程价值总结： </a:t>
            </a:r>
            <a:r>
              <a:rPr sz="1050">
                <a:solidFill>
                  <a:srgbClr val="0E2F44"/>
                </a:solidFill>
                <a:latin typeface="Microsoft YaHei"/>
              </a:rPr>
              <a:t>不仅解决了‘哪有裂缝’的定性识别难题，更通过等高波形还原消除了波传播几何失真，为下一步【各簇进液阻抗与水力开度定量反演】提供了高保真输入源！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424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117864"/>
                </a:solidFill>
                <a:latin typeface="Arial"/>
              </a:rPr>
              <a:t>CONCLUSIONS &amp; ACADEMIC CONTRIBUTIONS  |  </a:t>
            </a:r>
            <a:r>
              <a:rPr sz="1900" b="1">
                <a:solidFill>
                  <a:srgbClr val="0E2F44"/>
                </a:solidFill>
                <a:latin typeface="Microsoft YaHei"/>
              </a:rPr>
              <a:t>总结与学术贡献：从‘主观猜图’走向‘客观物理重构’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3337560" cy="4892040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1600200"/>
            <a:ext cx="2935224" cy="4526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>
                <a:solidFill>
                  <a:srgbClr val="117864"/>
                </a:solidFill>
                <a:latin typeface="Arial"/>
              </a:rPr>
              <a:t>01</a:t>
            </a:r>
          </a:p>
          <a:p>
            <a:pPr>
              <a:spcBef>
                <a:spcPts val="1000"/>
              </a:spcBef>
            </a:pPr>
            <a:r>
              <a:rPr sz="1350" b="1">
                <a:solidFill>
                  <a:srgbClr val="0E2F44"/>
                </a:solidFill>
                <a:latin typeface="Microsoft YaHei"/>
              </a:rPr>
              <a:t>揭示倒谱三大失真物理形成机理</a:t>
            </a:r>
          </a:p>
          <a:p>
            <a:pPr>
              <a:spcBef>
                <a:spcPts val="1000"/>
              </a:spcBef>
            </a:pPr>
            <a:r>
              <a:rPr sz="1000">
                <a:solidFill>
                  <a:srgbClr val="2C3E50"/>
                </a:solidFill>
                <a:latin typeface="Microsoft YaHei"/>
              </a:rPr>
              <a:t>• 摆脱了传统水击分析对单点经验肉眼判图的依赖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2C3E50"/>
                </a:solidFill>
                <a:latin typeface="Microsoft YaHei"/>
              </a:rPr>
              <a:t>• 首次将界面透射损耗、相消干涉谷与多次反射谐波时延规律抽象为严谨的物理数学基准线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2C3E50"/>
                </a:solidFill>
                <a:latin typeface="Microsoft YaHei"/>
              </a:rPr>
              <a:t>• 建立了多簇水击倒谱畸变的物理先验判据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62272" y="1417320"/>
            <a:ext cx="3337560" cy="4892040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600200"/>
            <a:ext cx="2935224" cy="4526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>
                <a:solidFill>
                  <a:srgbClr val="117864"/>
                </a:solidFill>
                <a:latin typeface="Arial"/>
              </a:rPr>
              <a:t>02</a:t>
            </a:r>
          </a:p>
          <a:p>
            <a:pPr>
              <a:spcBef>
                <a:spcPts val="1000"/>
              </a:spcBef>
            </a:pPr>
            <a:r>
              <a:rPr sz="1350" b="1">
                <a:solidFill>
                  <a:srgbClr val="0E2F44"/>
                </a:solidFill>
                <a:latin typeface="Microsoft YaHei"/>
              </a:rPr>
              <a:t>提出四道轨物理逆向重构方法</a:t>
            </a:r>
          </a:p>
          <a:p>
            <a:pPr>
              <a:spcBef>
                <a:spcPts val="1000"/>
              </a:spcBef>
            </a:pPr>
            <a:r>
              <a:rPr sz="1000">
                <a:solidFill>
                  <a:srgbClr val="2C3E50"/>
                </a:solidFill>
                <a:latin typeface="Microsoft YaHei"/>
              </a:rPr>
              <a:t>• 创新构建 G_peel(x) 谐波剥离算子与 K_comp(x) 级联增益补偿算子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2C3E50"/>
                </a:solidFill>
                <a:latin typeface="Microsoft YaHei"/>
              </a:rPr>
              <a:t>• 引入 F_focus(x) 单簇物理聚焦算子，消除深部伴生杂波毛刺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2C3E50"/>
                </a:solidFill>
                <a:latin typeface="Microsoft YaHei"/>
              </a:rPr>
              <a:t>• 输出去假峰、补相消、抗混叠的物理真实剖面 P~_2D(x)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47304" y="1417320"/>
            <a:ext cx="3337560" cy="4892040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48472" y="1600200"/>
            <a:ext cx="2935224" cy="4526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>
                <a:solidFill>
                  <a:srgbClr val="117864"/>
                </a:solidFill>
                <a:latin typeface="Arial"/>
              </a:rPr>
              <a:t>03</a:t>
            </a:r>
          </a:p>
          <a:p>
            <a:pPr>
              <a:spcBef>
                <a:spcPts val="1000"/>
              </a:spcBef>
            </a:pPr>
            <a:r>
              <a:rPr sz="1350" b="1">
                <a:solidFill>
                  <a:srgbClr val="0E2F44"/>
                </a:solidFill>
                <a:latin typeface="Microsoft YaHei"/>
              </a:rPr>
              <a:t>提供空间置信掩模与定量反演输入</a:t>
            </a:r>
          </a:p>
          <a:p>
            <a:pPr>
              <a:spcBef>
                <a:spcPts val="1000"/>
              </a:spcBef>
            </a:pPr>
            <a:r>
              <a:rPr sz="1000">
                <a:solidFill>
                  <a:srgbClr val="2C3E50"/>
                </a:solidFill>
                <a:latin typeface="Microsoft YaHei"/>
              </a:rPr>
              <a:t>• 输出 M(x) 绿/黄/红决策置信带，为现场提供 100% 确定性裂缝判识依据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2C3E50"/>
                </a:solidFill>
                <a:latin typeface="Microsoft YaHei"/>
              </a:rPr>
              <a:t>• 等高还原波形消除了声波几何衰减失真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2C3E50"/>
                </a:solidFill>
                <a:latin typeface="Microsoft YaHei"/>
              </a:rPr>
              <a:t>• 为深部水力开度定量反演奠定了高保真数据基础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