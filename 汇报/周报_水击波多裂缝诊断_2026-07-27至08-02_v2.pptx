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4"/>
  </p:handoutMasterIdLst>
  <p:sldIdLst>
    <p:sldId id="2662" r:id="rId4"/>
    <p:sldId id="2834" r:id="rId6"/>
    <p:sldId id="2844" r:id="rId7"/>
    <p:sldId id="2666" r:id="rId8"/>
    <p:sldId id="2898" r:id="rId9"/>
    <p:sldId id="2903" r:id="rId10"/>
    <p:sldId id="2836" r:id="rId11"/>
    <p:sldId id="2851" r:id="rId12"/>
    <p:sldId id="2690" r:id="rId13"/>
  </p:sldIdLst>
  <p:sldSz cx="12192000" cy="6858000"/>
  <p:notesSz cx="9928225" cy="6797675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936" userDrawn="1">
          <p15:clr>
            <a:srgbClr val="A4A3A4"/>
          </p15:clr>
        </p15:guide>
        <p15:guide id="6" orient="horz" pos="2652" userDrawn="1">
          <p15:clr>
            <a:srgbClr val="A4A3A4"/>
          </p15:clr>
        </p15:guide>
        <p15:guide id="7" orient="horz" pos="1010" userDrawn="1">
          <p15:clr>
            <a:srgbClr val="A4A3A4"/>
          </p15:clr>
        </p15:guide>
        <p15:guide id="11" orient="horz" pos="40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u yang" initials="Q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4FF"/>
    <a:srgbClr val="FF1FD3"/>
    <a:srgbClr val="FF9900"/>
    <a:srgbClr val="E39999"/>
    <a:srgbClr val="6600FF"/>
    <a:srgbClr val="6699FF"/>
    <a:srgbClr val="3399FF"/>
    <a:srgbClr val="33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55" autoAdjust="0"/>
    <p:restoredTop sz="89018" autoAdjust="0"/>
  </p:normalViewPr>
  <p:slideViewPr>
    <p:cSldViewPr showGuides="1">
      <p:cViewPr varScale="1">
        <p:scale>
          <a:sx n="144" d="100"/>
          <a:sy n="144" d="100"/>
        </p:scale>
        <p:origin x="2628" y="126"/>
      </p:cViewPr>
      <p:guideLst>
        <p:guide pos="3936"/>
        <p:guide orient="horz" pos="2652"/>
        <p:guide orient="horz" pos="1010"/>
        <p:guide orient="horz" pos="403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54" d="100"/>
          <a:sy n="154" d="100"/>
        </p:scale>
        <p:origin x="1968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commentAuthors" Target="commentAuthors.xml"/><Relationship Id="rId19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594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594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7F00989-C26E-4099-A22D-3EE122F3C971}" type="slidenum">
              <a:rPr lang="en-US" altLang="zh-CN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94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9456" y="509588"/>
            <a:ext cx="4532489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360" y="3229444"/>
            <a:ext cx="7943507" cy="3058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94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FD2F16D-149C-4311-8F5A-79BAE5C3C445}" type="slidenum">
              <a:rPr lang="en-US" altLang="zh-CN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1E064-DF0C-4D01-BD0A-47CE0164F1A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E6EE0-951D-4C5D-AC0F-CADDA689D56D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C098F-9C60-41C6-99A2-3ED4709AFF6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92E1A-12A0-4334-BC09-ED629A06876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8F54E-E7B3-4AD2-B062-7EBAD698635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FD411-B4D7-4D25-82A5-4FA3025B1821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8229600" y="6373512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662616" y="6477000"/>
            <a:ext cx="2844800" cy="476250"/>
          </a:xfrm>
        </p:spPr>
        <p:txBody>
          <a:bodyPr/>
          <a:lstStyle>
            <a:lvl1pPr algn="ctr"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A3AB346F-EC83-4B76-A0F9-FBE0281214E2}" type="slidenum">
              <a:rPr lang="en-US" altLang="zh-CN" smtClean="0"/>
            </a:fld>
            <a:r>
              <a:rPr lang="en-US" altLang="zh-CN" dirty="0"/>
              <a:t>-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D1B2E-2E67-439B-883A-507399E43CD5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B615D-D911-4B00-A755-FC175408D24F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AA20F-4335-405A-9141-7AD3C046F3DA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4A001-5540-44C4-ACE4-1271B870CFA7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1E064-DF0C-4D01-BD0A-47CE0164F1A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E6EE0-951D-4C5D-AC0F-CADDA689D56D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C098F-9C60-41C6-99A2-3ED4709AFF6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92E1A-12A0-4334-BC09-ED629A06876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8F54E-E7B3-4AD2-B062-7EBAD698635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FD411-B4D7-4D25-82A5-4FA3025B1821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8229600" y="6373512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662616" y="6477000"/>
            <a:ext cx="2844800" cy="476250"/>
          </a:xfrm>
        </p:spPr>
        <p:txBody>
          <a:bodyPr/>
          <a:lstStyle>
            <a:lvl1pPr algn="ctr"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A3AB346F-EC83-4B76-A0F9-FBE0281214E2}" type="slidenum">
              <a:rPr lang="en-US" altLang="zh-CN" smtClean="0"/>
            </a:fld>
            <a:r>
              <a:rPr lang="en-US" altLang="zh-CN" dirty="0"/>
              <a:t>-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D1B2E-2E67-439B-883A-507399E43CD5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B615D-D911-4B00-A755-FC175408D24F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AA20F-4335-405A-9141-7AD3C046F3DA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4A001-5540-44C4-ACE4-1271B870CFA7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2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A7D6636-84BA-4B2A-9183-5AC80A5D7EA5}" type="slidenum">
              <a:rPr lang="en-US" altLang="zh-CN"/>
            </a:fld>
            <a:endParaRPr lang="en-US" altLang="zh-CN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1905" y="990600"/>
            <a:ext cx="12201525" cy="0"/>
          </a:xfrm>
          <a:prstGeom prst="line">
            <a:avLst/>
          </a:prstGeom>
          <a:ln w="508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2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A7D6636-84BA-4B2A-9183-5AC80A5D7EA5}" type="slidenum">
              <a:rPr lang="en-US" altLang="zh-CN"/>
            </a:fld>
            <a:endParaRPr lang="en-US" altLang="zh-CN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0" y="1143000"/>
            <a:ext cx="12203430" cy="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4099" name="Text Box 17"/>
          <p:cNvSpPr txBox="1">
            <a:spLocks noChangeArrowheads="1"/>
          </p:cNvSpPr>
          <p:nvPr/>
        </p:nvSpPr>
        <p:spPr bwMode="auto">
          <a:xfrm>
            <a:off x="1301680" y="1771697"/>
            <a:ext cx="9588640" cy="1753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8288" rIns="18288" tIns="18288" bIns="18288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8000"/>
              </a:lnSpc>
              <a:spcBef>
                <a:spcPct val="0"/>
              </a:spcBef>
              <a:spcAft>
                <a:spcPts val="400"/>
              </a:spcAft>
              <a:buFontTx/>
              <a:buNone/>
            </a:pPr>
            <a:r>
              <a:rPr sz="3400" b="1">
                <a:solidFill>
                  <a:srgbClr val="233141"/>
                </a:solidFill>
                <a:latin typeface="Microsoft YaHei"/>
              </a:rPr>
              <a:t>水击波多裂缝诊断项目周报</a:t>
            </a:r>
            <a:endParaRPr lang="zh-CN" altLang="en-US" sz="5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3400" b="1">
                <a:solidFill>
                  <a:srgbClr val="233141"/>
                </a:solidFill>
                <a:latin typeface="Microsoft YaHei"/>
              </a:rPr>
              <a:t>2026.07.27—08.02</a:t>
            </a:r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8" name="文本框 10"/>
          <p:cNvSpPr txBox="1"/>
          <p:nvPr/>
        </p:nvSpPr>
        <p:spPr>
          <a:xfrm>
            <a:off x="83058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247" y="6447842"/>
            <a:ext cx="121767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00200" y="3733800"/>
            <a:ext cx="9143999" cy="1198880"/>
          </a:xfrm>
          <a:prstGeom prst="rect">
            <a:avLst/>
          </a:prstGeom>
          <a:noFill/>
        </p:spPr>
        <p:txBody>
          <a:bodyPr wrap="square" rtlCol="0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5B6977"/>
                </a:solidFill>
                <a:latin typeface="Microsoft YaHei"/>
              </a:rPr>
              <a:t>汇报人：晏程</a:t>
            </a:r>
            <a:endParaRPr lang="en-US" altLang="zh-CN" sz="2400" b="1" dirty="0"/>
          </a:p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5B6977"/>
                </a:solidFill>
                <a:latin typeface="Microsoft YaHei"/>
              </a:rPr>
              <a:t>研究主题：证据审计与论文重组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90" y="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612" y="228602"/>
            <a:ext cx="2466667" cy="638095"/>
          </a:xfrm>
          <a:prstGeom prst="rect">
            <a:avLst/>
          </a:prstGeom>
        </p:spPr>
      </p:pic>
      <p:sp>
        <p:nvSpPr>
          <p:cNvPr id="8" name="文本框 10"/>
          <p:cNvSpPr txBox="1"/>
          <p:nvPr/>
        </p:nvSpPr>
        <p:spPr>
          <a:xfrm>
            <a:off x="69342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24000" y="207924"/>
            <a:ext cx="9144000" cy="706755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233141"/>
                </a:solidFill>
                <a:latin typeface="Microsoft YaHei"/>
              </a:rPr>
              <a:t>汇 报 提 纲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3110068" y="2057400"/>
            <a:ext cx="631287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233141"/>
                </a:solidFill>
                <a:latin typeface="Microsoft YaHei"/>
              </a:rPr>
              <a:t>一、上周做了什么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233141"/>
                </a:solidFill>
                <a:latin typeface="Microsoft YaHei"/>
              </a:rPr>
              <a:t>二、有什么效果与证据边界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233141"/>
                </a:solidFill>
                <a:latin typeface="Microsoft YaHei"/>
              </a:rPr>
              <a:t>三、下一步怎么干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90" y="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612" y="228602"/>
            <a:ext cx="2466667" cy="638095"/>
          </a:xfrm>
          <a:prstGeom prst="rect">
            <a:avLst/>
          </a:prstGeom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914400" y="152400"/>
            <a:ext cx="915670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rIns="18288" tIns="18288" bIns="1828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一、上周工作完成情况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10972800" cy="187451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600">
                <a:solidFill>
                  <a:srgbClr val="BE4331"/>
                </a:solidFill>
                <a:latin typeface="Microsoft YaHei"/>
              </a:rPr>
              <a:t>评估协议：</a:t>
            </a:r>
            <a:r>
              <a:rPr sz="1600">
                <a:solidFill>
                  <a:srgbClr val="233141"/>
                </a:solidFill>
                <a:latin typeface="Microsoft YaHei"/>
              </a:rPr>
              <a:t>完成 detector / score 解耦，摘除 3 处真值泄漏。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600">
                <a:solidFill>
                  <a:srgbClr val="BE4331"/>
                </a:solidFill>
                <a:latin typeface="Microsoft YaHei"/>
              </a:rPr>
              <a:t>结果审计：</a:t>
            </a:r>
            <a:r>
              <a:rPr sz="1600">
                <a:solidFill>
                  <a:srgbClr val="233141"/>
                </a:solidFill>
                <a:latin typeface="Microsoft YaHei"/>
              </a:rPr>
              <a:t>完成 T01–T04 output 证据盘点，区分可直接使用与必须补做的结果。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600">
                <a:solidFill>
                  <a:srgbClr val="BE4331"/>
                </a:solidFill>
                <a:latin typeface="Microsoft YaHei"/>
              </a:rPr>
              <a:t>论文重组：</a:t>
            </a:r>
            <a:r>
              <a:rPr sz="1600">
                <a:solidFill>
                  <a:srgbClr val="233141"/>
                </a:solidFill>
                <a:latin typeface="Microsoft YaHei"/>
              </a:rPr>
              <a:t>将 3 份重复草稿收敛为 Paper A / Paper B 两篇 canonical 小论文。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600">
                <a:solidFill>
                  <a:srgbClr val="BE4331"/>
                </a:solidFill>
                <a:latin typeface="Microsoft YaHei"/>
              </a:rPr>
              <a:t>知识库：</a:t>
            </a:r>
            <a:r>
              <a:rPr sz="1600">
                <a:solidFill>
                  <a:srgbClr val="233141"/>
                </a:solidFill>
                <a:latin typeface="Microsoft YaHei"/>
              </a:rPr>
              <a:t>重构 4 个主题页，新增 EXP-018–025 与 2 份概念页。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86200"/>
            <a:ext cx="2514600" cy="1417320"/>
          </a:xfrm>
          <a:prstGeom prst="roundRect">
            <a:avLst/>
          </a:prstGeom>
          <a:solidFill>
            <a:srgbClr val="F7E8E3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032504"/>
            <a:ext cx="218541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5B6977"/>
                </a:solidFill>
                <a:latin typeface="Microsoft YaHei"/>
              </a:rPr>
              <a:t>真值泄漏已摘除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370832"/>
            <a:ext cx="2185416" cy="8321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BE4331"/>
                </a:solidFill>
                <a:latin typeface="Microsoft YaHei"/>
              </a:rPr>
              <a:t>3 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886200"/>
            <a:ext cx="2514600" cy="141732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4032504"/>
            <a:ext cx="218541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5B6977"/>
                </a:solidFill>
                <a:latin typeface="Microsoft YaHei"/>
              </a:rPr>
              <a:t>协议 / 仓库测试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4370832"/>
            <a:ext cx="2185416" cy="8321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266691"/>
                </a:solidFill>
                <a:latin typeface="Microsoft YaHei"/>
              </a:rPr>
              <a:t>7/7 · 28/28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886200"/>
            <a:ext cx="2514600" cy="1417320"/>
          </a:xfrm>
          <a:prstGeom prst="roundRect">
            <a:avLst/>
          </a:prstGeom>
          <a:solidFill>
            <a:srgbClr val="E2F2EE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032504"/>
            <a:ext cx="218541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5B6977"/>
                </a:solidFill>
                <a:latin typeface="Microsoft YaHei"/>
              </a:rPr>
              <a:t>新增实验记录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370832"/>
            <a:ext cx="2185416" cy="8321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258076"/>
                </a:solidFill>
                <a:latin typeface="Microsoft YaHei"/>
              </a:rPr>
              <a:t>EXP-018–025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3886200"/>
            <a:ext cx="2514600" cy="1417320"/>
          </a:xfrm>
          <a:prstGeom prst="roundRect">
            <a:avLst/>
          </a:prstGeom>
          <a:solidFill>
            <a:srgbClr val="FAF2DC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4032504"/>
            <a:ext cx="218541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5B6977"/>
                </a:solidFill>
                <a:latin typeface="Microsoft YaHei"/>
              </a:rPr>
              <a:t>论文结构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4370832"/>
            <a:ext cx="2185416" cy="8321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D39626"/>
                </a:solidFill>
                <a:latin typeface="Microsoft YaHei"/>
              </a:rPr>
              <a:t>3 →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8961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B6977"/>
                </a:solidFill>
                <a:latin typeface="Microsoft YaHei"/>
              </a:rPr>
              <a:t>依据：EXP-20260801-001；research_ob/主题/T01–T04；EXP-018–025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3110230" y="207645"/>
            <a:ext cx="5934075" cy="706755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233141"/>
                </a:solidFill>
                <a:latin typeface="Microsoft YaHei"/>
              </a:rPr>
              <a:t>二、科研进展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3110068" y="2057400"/>
            <a:ext cx="631287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0">
                <a:solidFill>
                  <a:srgbClr val="233141"/>
                </a:solidFill>
                <a:latin typeface="Microsoft YaHei"/>
              </a:rPr>
              <a:t>从“有结果”转向“可审计、可投稿”的证据链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5" name="文本框 10"/>
          <p:cNvSpPr txBox="1"/>
          <p:nvPr/>
        </p:nvSpPr>
        <p:spPr>
          <a:xfrm>
            <a:off x="83058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-304800" y="304800"/>
            <a:ext cx="91567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rIns="18288" tIns="18288" bIns="1828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二、科研进展</a:t>
            </a:r>
            <a:endParaRPr lang="en-US" altLang="zh-CN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143000"/>
            <a:ext cx="10628630" cy="460375"/>
          </a:xfrm>
          <a:prstGeom prst="rect">
            <a:avLst/>
          </a:prstGeom>
          <a:noFill/>
        </p:spPr>
        <p:txBody>
          <a:bodyPr wrap="square" rtlCol="0" anchor="ctr" lIns="18288" rIns="18288" tIns="18288" bIns="18288">
            <a:spAutoFit/>
          </a:bodyPr>
          <a:p>
            <a:pPr marL="0" indent="0" algn="l">
              <a:lnSpc>
                <a:spcPct val="108000"/>
              </a:lnSpc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1800" b="1">
                <a:solidFill>
                  <a:srgbClr val="233141"/>
                </a:solidFill>
                <a:latin typeface="Microsoft YaHei"/>
              </a:rPr>
              <a:t>1. 评估协议重建：把历史“成功”变成可审计结果</a:t>
            </a:r>
            <a:endParaRPr lang="en-US" altLang="zh-CN" sz="2400" b="1"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2400" y="1603375"/>
            <a:ext cx="11915775" cy="1381760"/>
          </a:xfrm>
          <a:prstGeom prst="rect">
            <a:avLst/>
          </a:prstGeom>
          <a:noFill/>
        </p:spPr>
        <p:txBody>
          <a:bodyPr wrap="square" rtlCol="0" lIns="27432" rIns="27432" tIns="27432" bIns="27432" anchor="t">
            <a:noAutofit/>
          </a:bodyPr>
          <a:p>
            <a:pPr indent="457200"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5B6977"/>
                </a:solidFill>
                <a:latin typeface="Microsoft YaHei"/>
              </a:rPr>
              <a:t>三处真值泄漏被摘除后，历史匹配结果需要重新解释。这里展示固定容差下的盲协议 F1；历史 135 m 容差不与 F1 混画。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101" name="Picture 4100" descr="weekly_f1_au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0048"/>
            <a:ext cx="5349240" cy="3127248"/>
          </a:xfrm>
          <a:prstGeom prst="rect">
            <a:avLst/>
          </a:prstGeom>
        </p:spPr>
      </p:pic>
      <p:sp>
        <p:nvSpPr>
          <p:cNvPr id="4102" name="TextBox 4101"/>
          <p:cNvSpPr txBox="1"/>
          <p:nvPr/>
        </p:nvSpPr>
        <p:spPr>
          <a:xfrm>
            <a:off x="658368" y="5824728"/>
            <a:ext cx="51663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5B6977"/>
                </a:solidFill>
                <a:latin typeface="Microsoft YaHei"/>
              </a:rPr>
              <a:t>注：历史 135 m 容差不是可比较的 F1 指标，未纳入柱状图。</a:t>
            </a:r>
          </a:p>
        </p:txBody>
      </p:sp>
      <p:sp>
        <p:nvSpPr>
          <p:cNvPr id="4103" name="TextBox 4102"/>
          <p:cNvSpPr txBox="1"/>
          <p:nvPr/>
        </p:nvSpPr>
        <p:spPr>
          <a:xfrm>
            <a:off x="6400800" y="2670048"/>
            <a:ext cx="5074920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30">
                <a:solidFill>
                  <a:srgbClr val="BE4331"/>
                </a:solidFill>
                <a:latin typeface="Microsoft YaHei"/>
              </a:rPr>
              <a:t>协议修复：</a:t>
            </a:r>
            <a:r>
              <a:rPr sz="1330">
                <a:solidFill>
                  <a:srgbClr val="233141"/>
                </a:solidFill>
                <a:latin typeface="Microsoft YaHei"/>
              </a:rPr>
              <a:t>最小峰距、匹配容差、top_n 三处泄漏。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30">
                <a:solidFill>
                  <a:srgbClr val="BE4331"/>
                </a:solidFill>
                <a:latin typeface="Microsoft YaHei"/>
              </a:rPr>
              <a:t>测试通过：</a:t>
            </a:r>
            <a:r>
              <a:rPr sz="1330">
                <a:solidFill>
                  <a:srgbClr val="233141"/>
                </a:solidFill>
                <a:latin typeface="Microsoft YaHei"/>
              </a:rPr>
              <a:t>7/7 协议测试；仓库 28/28。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30">
                <a:solidFill>
                  <a:srgbClr val="BE4331"/>
                </a:solidFill>
                <a:latin typeface="Microsoft YaHei"/>
              </a:rPr>
              <a:t>Brunone：</a:t>
            </a:r>
            <a:r>
              <a:rPr sz="1330">
                <a:solidFill>
                  <a:srgbClr val="233141"/>
                </a:solidFill>
                <a:latin typeface="Microsoft YaHei"/>
              </a:rPr>
              <a:t>单缝 F1=0 @10 m；F1=1 @20 m。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30">
                <a:solidFill>
                  <a:srgbClr val="BE4331"/>
                </a:solidFill>
                <a:latin typeface="Microsoft YaHei"/>
              </a:rPr>
              <a:t>Steady：</a:t>
            </a:r>
            <a:r>
              <a:rPr sz="1330">
                <a:solidFill>
                  <a:srgbClr val="233141"/>
                </a:solidFill>
                <a:latin typeface="Microsoft YaHei"/>
              </a:rPr>
              <a:t>D5 双缝 F1=1，且成功分离。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30">
                <a:solidFill>
                  <a:srgbClr val="BE4331"/>
                </a:solidFill>
                <a:latin typeface="Microsoft YaHei"/>
              </a:rPr>
              <a:t>证据边界：</a:t>
            </a:r>
            <a:r>
              <a:rPr sz="1330">
                <a:solidFill>
                  <a:srgbClr val="233141"/>
                </a:solidFill>
                <a:latin typeface="Microsoft YaHei"/>
              </a:rPr>
              <a:t>无噪声、小样本；EXP-021 正式标定。</a:t>
            </a:r>
          </a:p>
        </p:txBody>
      </p:sp>
      <p:sp>
        <p:nvSpPr>
          <p:cNvPr id="4104" name="TextBox 4103"/>
          <p:cNvSpPr txBox="1"/>
          <p:nvPr/>
        </p:nvSpPr>
        <p:spPr>
          <a:xfrm>
            <a:off x="502920" y="6400800"/>
            <a:ext cx="8961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B6977"/>
                </a:solidFill>
                <a:latin typeface="Microsoft YaHei"/>
              </a:rPr>
              <a:t>数据：output/analysis/blind_protocol_reaudit/；结论来源：EXP-20260801-001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-304800" y="304800"/>
            <a:ext cx="91567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rIns="18288" tIns="18288" bIns="1828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二、科研进展</a:t>
            </a:r>
            <a:endParaRPr lang="en-US" altLang="zh-CN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143000"/>
            <a:ext cx="10628630" cy="460375"/>
          </a:xfrm>
          <a:prstGeom prst="rect">
            <a:avLst/>
          </a:prstGeom>
          <a:noFill/>
        </p:spPr>
        <p:txBody>
          <a:bodyPr wrap="square" rtlCol="0" anchor="ctr" lIns="18288" rIns="18288" tIns="18288" bIns="18288">
            <a:spAutoFit/>
          </a:bodyPr>
          <a:p>
            <a:pPr marL="0" indent="0" algn="l">
              <a:lnSpc>
                <a:spcPct val="108000"/>
              </a:lnSpc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1800" b="1">
                <a:solidFill>
                  <a:srgbClr val="233141"/>
                </a:solidFill>
                <a:latin typeface="Microsoft YaHei"/>
              </a:rPr>
              <a:t>2. 研究内容重排：四条研究线收敛为两篇小论文</a:t>
            </a:r>
            <a:endParaRPr lang="en-US" altLang="zh-CN" sz="2400" b="1"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2400" y="1603375"/>
            <a:ext cx="11915775" cy="1381760"/>
          </a:xfrm>
          <a:prstGeom prst="rect">
            <a:avLst/>
          </a:prstGeom>
          <a:noFill/>
        </p:spPr>
        <p:txBody>
          <a:bodyPr wrap="square" rtlCol="0" lIns="27432" rIns="27432" tIns="27432" bIns="27432" anchor="t">
            <a:noAutofit/>
          </a:bodyPr>
          <a:p>
            <a:pPr indent="457200"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5B6977"/>
                </a:solidFill>
                <a:latin typeface="Microsoft YaHei"/>
              </a:rPr>
              <a:t>output 审计后，把可以直接进入论文的观察与必须补实验的机制分开。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101" name="Picture 4100" descr="weekly_physics_mont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2697480"/>
            <a:ext cx="5532120" cy="3246120"/>
          </a:xfrm>
          <a:prstGeom prst="rect">
            <a:avLst/>
          </a:prstGeom>
        </p:spPr>
      </p:pic>
      <p:sp>
        <p:nvSpPr>
          <p:cNvPr id="4102" name="Rounded Rectangle 4101"/>
          <p:cNvSpPr/>
          <p:nvPr/>
        </p:nvSpPr>
        <p:spPr>
          <a:xfrm>
            <a:off x="6419088" y="2606040"/>
            <a:ext cx="5074920" cy="1572768"/>
          </a:xfrm>
          <a:prstGeom prst="roundRect">
            <a:avLst/>
          </a:prstGeom>
          <a:solidFill>
            <a:srgbClr val="F7E8E3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3" name="Rounded Rectangle 4102"/>
          <p:cNvSpPr/>
          <p:nvPr/>
        </p:nvSpPr>
        <p:spPr>
          <a:xfrm>
            <a:off x="6620255" y="2788920"/>
            <a:ext cx="621792" cy="329184"/>
          </a:xfrm>
          <a:prstGeom prst="roundRect">
            <a:avLst/>
          </a:prstGeom>
          <a:solidFill>
            <a:srgbClr val="BE4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4104" name="TextBox 4103"/>
          <p:cNvSpPr txBox="1"/>
          <p:nvPr/>
        </p:nvSpPr>
        <p:spPr>
          <a:xfrm>
            <a:off x="6620255" y="3200400"/>
            <a:ext cx="4672583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>
                <a:solidFill>
                  <a:srgbClr val="233141"/>
                </a:solidFill>
                <a:latin typeface="Microsoft YaHei"/>
              </a:rPr>
              <a:t>Paper A｜T02 + T03</a:t>
            </a:r>
          </a:p>
        </p:txBody>
      </p:sp>
      <p:sp>
        <p:nvSpPr>
          <p:cNvPr id="4105" name="TextBox 4104"/>
          <p:cNvSpPr txBox="1"/>
          <p:nvPr/>
        </p:nvSpPr>
        <p:spPr>
          <a:xfrm>
            <a:off x="6620255" y="3611880"/>
            <a:ext cx="4672583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拓扑轴收紧 + 首缝非局部响应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现象已支持；统计、Cf/Kleak、相位路径待补</a:t>
            </a:r>
          </a:p>
        </p:txBody>
      </p:sp>
      <p:sp>
        <p:nvSpPr>
          <p:cNvPr id="4106" name="Rounded Rectangle 4105"/>
          <p:cNvSpPr/>
          <p:nvPr/>
        </p:nvSpPr>
        <p:spPr>
          <a:xfrm>
            <a:off x="6419088" y="4315968"/>
            <a:ext cx="5074920" cy="1572768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7" name="Rounded Rectangle 4106"/>
          <p:cNvSpPr/>
          <p:nvPr/>
        </p:nvSpPr>
        <p:spPr>
          <a:xfrm>
            <a:off x="6620255" y="4498848"/>
            <a:ext cx="621792" cy="329184"/>
          </a:xfrm>
          <a:prstGeom prst="roundRect">
            <a:avLst/>
          </a:prstGeom>
          <a:solidFill>
            <a:srgbClr val="266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108" name="TextBox 4107"/>
          <p:cNvSpPr txBox="1"/>
          <p:nvPr/>
        </p:nvSpPr>
        <p:spPr>
          <a:xfrm>
            <a:off x="6620255" y="4910328"/>
            <a:ext cx="4672583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>
                <a:solidFill>
                  <a:srgbClr val="233141"/>
                </a:solidFill>
                <a:latin typeface="Microsoft YaHei"/>
              </a:rPr>
              <a:t>Paper B｜T01 + T04</a:t>
            </a:r>
          </a:p>
        </p:txBody>
      </p:sp>
      <p:sp>
        <p:nvSpPr>
          <p:cNvPr id="4109" name="TextBox 4108"/>
          <p:cNvSpPr txBox="1"/>
          <p:nvPr/>
        </p:nvSpPr>
        <p:spPr>
          <a:xfrm>
            <a:off x="6620255" y="5321808"/>
            <a:ext cx="4672583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38.36 m 条件化谱基线 + Brunone 波形退化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30-case 已支持；盲评估与指标审计待补</a:t>
            </a:r>
          </a:p>
        </p:txBody>
      </p:sp>
      <p:sp>
        <p:nvSpPr>
          <p:cNvPr id="4110" name="TextBox 4109"/>
          <p:cNvSpPr txBox="1"/>
          <p:nvPr/>
        </p:nvSpPr>
        <p:spPr>
          <a:xfrm>
            <a:off x="6419088" y="5971032"/>
            <a:ext cx="50749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5B6977"/>
                </a:solidFill>
                <a:latin typeface="Microsoft YaHei"/>
              </a:rPr>
              <a:t>统一口径：38.36 m ≠ 时域 Rayleigh 5 m；“严格频散”暂不作为主张。</a:t>
            </a:r>
          </a:p>
        </p:txBody>
      </p:sp>
      <p:sp>
        <p:nvSpPr>
          <p:cNvPr id="4111" name="TextBox 4110"/>
          <p:cNvSpPr txBox="1"/>
          <p:nvPr/>
        </p:nvSpPr>
        <p:spPr>
          <a:xfrm>
            <a:off x="502920" y="6400800"/>
            <a:ext cx="8961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B6977"/>
                </a:solidFill>
                <a:latin typeface="Microsoft YaHei"/>
              </a:rPr>
              <a:t>图：output/analysis/decay_regression/；output/analysis/brunone_spacing_effect/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2743835" y="207645"/>
            <a:ext cx="6677660" cy="706755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233141"/>
                </a:solidFill>
                <a:latin typeface="Microsoft YaHei"/>
              </a:rPr>
              <a:t>三、下周工作计划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3110068" y="2057400"/>
            <a:ext cx="631287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0">
                <a:solidFill>
                  <a:srgbClr val="233141"/>
                </a:solidFill>
                <a:latin typeface="Microsoft YaHei"/>
              </a:rPr>
              <a:t>优先补齐决定论文可信度的三项实验</a:t>
            </a:r>
            <a:endParaRPr lang="en-US" alt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5" name="文本框 10"/>
          <p:cNvSpPr txBox="1"/>
          <p:nvPr/>
        </p:nvSpPr>
        <p:spPr>
          <a:xfrm>
            <a:off x="83058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247" y="6447842"/>
            <a:ext cx="121767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130300" y="288925"/>
            <a:ext cx="915670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rIns="18288" tIns="18288" bIns="1828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三、下周工作计划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pic>
        <p:nvPicPr>
          <p:cNvPr id="7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1600200"/>
            <a:ext cx="3520440" cy="3154680"/>
          </a:xfrm>
          <a:prstGeom prst="roundRect">
            <a:avLst/>
          </a:prstGeom>
          <a:solidFill>
            <a:srgbClr val="F7E8E3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1783080"/>
            <a:ext cx="621792" cy="329184"/>
          </a:xfrm>
          <a:prstGeom prst="roundRect">
            <a:avLst/>
          </a:prstGeom>
          <a:solidFill>
            <a:srgbClr val="BE4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194560"/>
            <a:ext cx="311810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>
                <a:solidFill>
                  <a:srgbClr val="233141"/>
                </a:solidFill>
                <a:latin typeface="Microsoft YaHei"/>
              </a:rPr>
              <a:t>EXP-021｜T01 盲分辨率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06040"/>
            <a:ext cx="3118104" cy="1984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间距 × DR × SNR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检测器不读 truth；评分器独立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交付：分辨概率、F1、假峰、深度误差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600200"/>
            <a:ext cx="3520440" cy="315468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1783080"/>
            <a:ext cx="621792" cy="329184"/>
          </a:xfrm>
          <a:prstGeom prst="roundRect">
            <a:avLst/>
          </a:prstGeom>
          <a:solidFill>
            <a:srgbClr val="266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194560"/>
            <a:ext cx="311810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>
                <a:solidFill>
                  <a:srgbClr val="233141"/>
                </a:solidFill>
                <a:latin typeface="Microsoft YaHei"/>
              </a:rPr>
              <a:t>EXP-022｜T02 统计复核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606040"/>
            <a:ext cx="3118104" cy="1984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420 case 逐组 R² / ΔR² / CI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修复 Cf/Kleak 完成键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统一 n=5，旧混合表不再用于 claim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600200"/>
            <a:ext cx="3520440" cy="3154680"/>
          </a:xfrm>
          <a:prstGeom prst="roundRect">
            <a:avLst/>
          </a:prstGeom>
          <a:solidFill>
            <a:srgbClr val="E2F2EE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66176" y="1783080"/>
            <a:ext cx="621792" cy="329184"/>
          </a:xfrm>
          <a:prstGeom prst="roundRect">
            <a:avLst/>
          </a:prstGeom>
          <a:solidFill>
            <a:srgbClr val="25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94560"/>
            <a:ext cx="311810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>
                <a:solidFill>
                  <a:srgbClr val="233141"/>
                </a:solidFill>
                <a:latin typeface="Microsoft YaHei"/>
              </a:rPr>
              <a:t>EXP-023/024｜机制与指标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606040"/>
            <a:ext cx="3118104" cy="1984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T03：n=1、逐缝开启、相位/路径消融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T04：共同 STFT、双峰阈值、热力图重算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交付：Paper A/B 证据门槛更新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864608"/>
            <a:ext cx="4133087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D39626"/>
                </a:solidFill>
                <a:latin typeface="Microsoft YaHei"/>
              </a:rPr>
              <a:t>统一协议后并行推进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257800"/>
            <a:ext cx="1088136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233141"/>
                </a:solidFill>
                <a:latin typeface="Microsoft YaHei"/>
              </a:rPr>
              <a:t>最终交付：两篇小论文的论点—证据表、可审计图表和下一轮实验结果。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8961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B6977"/>
                </a:solidFill>
                <a:latin typeface="Microsoft YaHei"/>
              </a:rPr>
              <a:t>计划来源：EXP-20260730-021–024；Paper A / Paper B 投稿前门槛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图片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ounded Rectangle 6146"/>
          <p:cNvSpPr/>
          <p:nvPr/>
        </p:nvSpPr>
        <p:spPr>
          <a:xfrm>
            <a:off x="777240" y="960120"/>
            <a:ext cx="106527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8" name="TextBox 6147"/>
          <p:cNvSpPr txBox="1"/>
          <p:nvPr/>
        </p:nvSpPr>
        <p:spPr>
          <a:xfrm>
            <a:off x="1143000" y="1280160"/>
            <a:ext cx="98755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BE4331"/>
                </a:solidFill>
                <a:latin typeface="Microsoft YaHei"/>
              </a:rPr>
              <a:t>一句话总结</a:t>
            </a:r>
          </a:p>
        </p:txBody>
      </p:sp>
      <p:sp>
        <p:nvSpPr>
          <p:cNvPr id="6149" name="TextBox 6148"/>
          <p:cNvSpPr txBox="1"/>
          <p:nvPr/>
        </p:nvSpPr>
        <p:spPr>
          <a:xfrm>
            <a:off x="1234440" y="1965960"/>
            <a:ext cx="96926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233141"/>
                </a:solidFill>
                <a:latin typeface="Microsoft YaHei"/>
              </a:rPr>
              <a:t>上周完成了从“有结果”到“可审计、可投稿”的结构重整。</a:t>
            </a:r>
          </a:p>
        </p:txBody>
      </p:sp>
      <p:sp>
        <p:nvSpPr>
          <p:cNvPr id="6150" name="TextBox 6149"/>
          <p:cNvSpPr txBox="1"/>
          <p:nvPr/>
        </p:nvSpPr>
        <p:spPr>
          <a:xfrm>
            <a:off x="1508760" y="2880360"/>
            <a:ext cx="9144000" cy="1828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800">
                <a:solidFill>
                  <a:srgbClr val="BE4331"/>
                </a:solidFill>
                <a:latin typeface="Microsoft YaHei"/>
              </a:rPr>
              <a:t>1 先纠偏：</a:t>
            </a:r>
            <a:r>
              <a:rPr sz="1800">
                <a:solidFill>
                  <a:srgbClr val="233141"/>
                </a:solidFill>
                <a:latin typeface="Microsoft YaHei"/>
              </a:rPr>
              <a:t>评估协议修复后，历史 Brunone “成功”被重新校准。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800">
                <a:solidFill>
                  <a:srgbClr val="BE4331"/>
                </a:solidFill>
                <a:latin typeface="Microsoft YaHei"/>
              </a:rPr>
              <a:t>2 再归纳：</a:t>
            </a:r>
            <a:r>
              <a:rPr sz="1800">
                <a:solidFill>
                  <a:srgbClr val="233141"/>
                </a:solidFill>
                <a:latin typeface="Microsoft YaHei"/>
              </a:rPr>
              <a:t>T01–T04 从四条散线收敛为 Paper A / Paper B。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800">
                <a:solidFill>
                  <a:srgbClr val="BE4331"/>
                </a:solidFill>
                <a:latin typeface="Microsoft YaHei"/>
              </a:rPr>
              <a:t>3 后验证：</a:t>
            </a:r>
            <a:r>
              <a:rPr sz="1800">
                <a:solidFill>
                  <a:srgbClr val="233141"/>
                </a:solidFill>
                <a:latin typeface="Microsoft YaHei"/>
              </a:rPr>
              <a:t>下一步用盲检测、参数稳健性和路径消融决定最终论文主张。</a:t>
            </a:r>
          </a:p>
        </p:txBody>
      </p:sp>
      <p:sp>
        <p:nvSpPr>
          <p:cNvPr id="6151" name="TextBox 6150"/>
          <p:cNvSpPr txBox="1"/>
          <p:nvPr/>
        </p:nvSpPr>
        <p:spPr>
          <a:xfrm>
            <a:off x="1143000" y="5257800"/>
            <a:ext cx="98755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BE4331"/>
                </a:solidFill>
                <a:latin typeface="Microsoft YaHei"/>
              </a:rPr>
              <a:t>谢谢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jBiNDM5ZTJmOTAwYTkzYjcxZWYyMmQ3NDIwYzQwNDE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00"/>
      </a:accent1>
      <a:accent2>
        <a:srgbClr val="0000FF"/>
      </a:accent2>
      <a:accent3>
        <a:srgbClr val="FFFF00"/>
      </a:accent3>
      <a:accent4>
        <a:srgbClr val="00B050"/>
      </a:accent4>
      <a:accent5>
        <a:srgbClr val="FFC00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275</Words>
  <Application>WPS 演示</Application>
  <PresentationFormat>全屏显示(4:3)</PresentationFormat>
  <Paragraphs>83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黑体</vt:lpstr>
      <vt:lpstr>华文行楷</vt:lpstr>
      <vt:lpstr>方正大黑简体</vt:lpstr>
      <vt:lpstr>等线</vt:lpstr>
      <vt:lpstr>Wingdings</vt:lpstr>
      <vt:lpstr>微软雅黑</vt:lpstr>
      <vt:lpstr>Arial Unicode MS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水击波多裂缝诊断项目周报｜证据审计与论文重组</dc:title>
  <dc:creator>晏程</dc:creator>
  <cp:lastModifiedBy>晏程</cp:lastModifiedBy>
  <cp:revision>3895</cp:revision>
  <cp:lastPrinted>2026-07-18T10:55:00Z</cp:lastPrinted>
  <dcterms:created xsi:type="dcterms:W3CDTF">2026-07-18T10:55:00Z</dcterms:created>
  <dcterms:modified xsi:type="dcterms:W3CDTF">2026-08-06T05:42:44Z</dcterms:modified>
  <dc:subject>上周工作：评估协议重建、T01–T04证据审计、两篇论文重组、下一步实验计划</dc:subject>
  <dc:description>Based on research_ob EXP-018–025 and existing output results. Planned experiments are labeled as planned.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D94CACC08A134985AB875DD30B9B0E27_13</vt:lpwstr>
  </property>
  <property fmtid="{D5CDD505-2E9C-101B-9397-08002B2CF9AE}" pid="4" name="KSOProductBuildVer">
    <vt:lpwstr>2052-12.1.0.23542</vt:lpwstr>
  </property>
</Properties>
</file>